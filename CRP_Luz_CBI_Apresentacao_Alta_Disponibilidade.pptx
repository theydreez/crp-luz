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CBI_001-23_6 B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1289703" cy="1005840"/>
          </a:xfrm>
          <a:prstGeom prst="rect">
            <a:avLst/>
          </a:prstGeom>
        </p:spPr>
      </p:pic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325880"/>
            <a:ext cx="1958293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88720" y="2468880"/>
            <a:ext cx="5120640" cy="365760"/>
          </a:xfrm>
          <a:prstGeom prst="roundRect">
            <a:avLst/>
          </a:prstGeom>
          <a:solidFill>
            <a:srgbClr val="122444"/>
          </a:solidFill>
          <a:ln>
            <a:solidFill>
              <a:srgbClr val="249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FE6DF"/>
                </a:solidFill>
              </a:defRPr>
            </a:pPr>
            <a:r>
              <a:t>SMART RIO PRETO • INFRAESTRUTURA DIGITAL DE ALTA DISPONIBILIDADE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CRP LUZ &amp; SMART RIO PRETO</a:t>
            </a:r>
          </a:p>
          <a:p>
            <a:pPr>
              <a:spcBef>
                <a:spcPts val="800"/>
              </a:spcBef>
              <a:defRPr sz="2000" b="1">
                <a:solidFill>
                  <a:srgbClr val="7FE6DF"/>
                </a:solidFill>
                <a:latin typeface="Arial"/>
              </a:defRPr>
            </a:pPr>
            <a:r>
              <a:t>Alta Disponibilidade em Escala Municipal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  <a:latin typeface="Arial"/>
              </a:defRPr>
            </a:pPr>
            <a:r>
              <a:t>Arquitetura de Borda Resiliente a Picos de Tráfego e Garantia de Operação Contínua da Central 0800 para ~480 mil cidadãos de São José do Rio Preto.</a:t>
            </a:r>
          </a:p>
        </p:txBody>
      </p:sp>
      <p:pic>
        <p:nvPicPr>
          <p:cNvPr id="8" name="Picture 7" descr="hero-po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88720"/>
            <a:ext cx="347472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FE6DF"/>
                </a:solidFill>
                <a:latin typeface="Arial"/>
              </a:defRPr>
            </a:pPr>
            <a:r>
              <a:t>CBI ILUMINAÇÃO • CONCESSÃO CRP LUZ — SMART RIO PRETO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 Desafio da Escala: Quando a Cidade Inteira Acessa ao Mesmo Tempo</a:t>
            </a:r>
          </a:p>
        </p:txBody>
      </p:sp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11480"/>
            <a:ext cx="1346326" cy="502920"/>
          </a:xfrm>
          <a:prstGeom prst="rect">
            <a:avLst/>
          </a:prstGeom>
        </p:spPr>
      </p:pic>
      <p:pic>
        <p:nvPicPr>
          <p:cNvPr id="6" name="Picture 5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47472"/>
            <a:ext cx="82072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3328416" cy="237744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FE6DF"/>
                </a:solidFill>
              </a:defRPr>
            </a:pPr>
            <a:r>
              <a:t>480.000+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Munícipes de São José do Rio Preto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Base de cidadãos que dependerão do canal oficial para atendimento, solicitação de reparos e comunicados da concessão.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554480"/>
            <a:ext cx="3328416" cy="237744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737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EC434"/>
                </a:solidFill>
              </a:defRPr>
            </a:pPr>
            <a:r>
              <a:t>50.000+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Acessos Simultâneos de Pico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Volume esperado durante inserções na TV regional (TV Tem/Record), rádios locais e disparos institucionais da Prefeitura.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554480"/>
            <a:ext cx="3328416" cy="237744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37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CC71"/>
                </a:solidFill>
              </a:defRPr>
            </a:pPr>
            <a:r>
              <a:t>0% Erro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Tolerância Zero a Quedas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O munícipe com problema elétrico ou solicitando manutenção urgente não pode encontrar mensagem de servidor fora do 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1828800"/>
          </a:xfrm>
          <a:prstGeom prst="roundRect">
            <a:avLst/>
          </a:prstGeom>
          <a:solidFill>
            <a:srgbClr val="122444"/>
          </a:solidFill>
          <a:ln w="12700">
            <a:solidFill>
              <a:srgbClr val="3C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FE6DF"/>
                </a:solidFill>
              </a:defRPr>
            </a:pPr>
            <a:r>
              <a:t>O FENÔMENO DO PICO DE MÍDIA REGIONAL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Portais governamentais e de serviços públicos frequentemente colapsam nos primeiros 10 minutos após menções em jornais de grande audiência. O motivo técnico clássico é a utilização de servidores web tradicionais (Apache/Nginx com banco de dados) que enfileiram conexões até esgotar a memória RAM da máquina.</a:t>
            </a:r>
            <a:br/>
            <a:br/>
            <a:r>
              <a:t>A diretriz de engenharia da CRP Luz estabeleceu a eliminação prévia e total dessa vulnerabilidade através de arquitetura descentralizada.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FE6DF"/>
                </a:solidFill>
                <a:latin typeface="Arial"/>
              </a:defRPr>
            </a:pPr>
            <a:r>
              <a:t>CBI ILUMINAÇÃO • CONCESSÃO CRP LUZ — SMART RIO PRETO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 Contraste Arquitetural: Por Que a Solução da CRP Luz Não Cai</a:t>
            </a:r>
          </a:p>
        </p:txBody>
      </p:sp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11480"/>
            <a:ext cx="1346326" cy="502920"/>
          </a:xfrm>
          <a:prstGeom prst="rect">
            <a:avLst/>
          </a:prstGeom>
        </p:spPr>
      </p:pic>
      <p:pic>
        <p:nvPicPr>
          <p:cNvPr id="6" name="Picture 5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47472"/>
            <a:ext cx="82072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5175504" cy="457200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ARQUITETURA TRADICIONAL (ALTO RISCO)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Hospedagem em Servidor Dedicado / VPS / WordPress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Ponto Único de Falha (SPOF): Se o servidor central cair ou sofrer oscilação de rede, 100% dos munícipes ficam sem acesso.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Gargalo no Banco de Dados: Cada clique dispara consultas SQL. Com 1.000 usuários simultâneos, o pool de conexões trava.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Esgotamento de Memória RAM: Processos dinâmicos em PHP/Node consomem recursos por conexão ativa até o crash total (OOM).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Suscetível a Ataques de Tráfego: Qualquer sobrecarga volumétrica atinge diretamente a máquina de origem.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• Resultado no Pico da TV: Erro 502 Bad Gateway / 504 Timeout na tela do cidadão.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457200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7F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FE6DF"/>
                </a:solidFill>
              </a:defRPr>
            </a:pPr>
            <a:r>
              <a:t>ARQUITETURA DE BORDA ANYCAST (CRP LUZ)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Cloudflare Global Edge Anycast Network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✔ Rede Distribuída em 330+ Cidades: O site não está em um único computador. Ele é replicado globalmente com nós de alta velocidade em SP.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✔ 100% Stateless (Zero Banco de Dados): Arquitetura JAMstack pura. Arquivos pré-renderizados servidos direto da memória do Edge.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✔ Cache Hit Ratio &gt; 99% na Borda: O cidadão de Rio Preto é respondido no data center mais próximo a velocidades de rede de fibra.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✔ Escudo Anti-DDoS de Mais de 300 Tbps: Absorve picos gigantescos de requisições sem que a origem sequer tome conhecimento.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</a:defRPr>
            </a:pPr>
            <a:r>
              <a:t>✔ Resultado no Pico da TV: Atendimento instantâneo com TTFB &lt; 35ms e zero fila de espera.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FE6DF"/>
                </a:solidFill>
                <a:latin typeface="Arial"/>
              </a:defRPr>
            </a:pPr>
            <a:r>
              <a:t>CBI ILUMINAÇÃO • CONCESSÃO CRP LUZ — SMART RIO PRETO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 Matemática da Resiliência: São José do Rio Preto</a:t>
            </a:r>
          </a:p>
        </p:txBody>
      </p:sp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11480"/>
            <a:ext cx="1346326" cy="502920"/>
          </a:xfrm>
          <a:prstGeom prst="rect">
            <a:avLst/>
          </a:prstGeom>
        </p:spPr>
      </p:pic>
      <p:pic>
        <p:nvPicPr>
          <p:cNvPr id="6" name="Picture 5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47472"/>
            <a:ext cx="82072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6858000" cy="457200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1691640"/>
          <a:ext cx="6309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94560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7FE6DF"/>
                          </a:solidFill>
                        </a:defRPr>
                      </a:pPr>
                      <a:r>
                        <a:t>Parâmetro de Escala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7FE6DF"/>
                          </a:solidFill>
                        </a:defRPr>
                      </a:pPr>
                      <a:r>
                        <a:t>Cenário Rio Preto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7FE6DF"/>
                          </a:solidFill>
                        </a:defRPr>
                      </a:pPr>
                      <a:r>
                        <a:t>Capacidade da Borda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População Municipal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~480.000 moradores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FE6DF"/>
                          </a:solidFill>
                        </a:defRPr>
                      </a:pPr>
                      <a:r>
                        <a:t>Cobertura irrestrita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Pico Severo em Mídia</a:t>
                      </a:r>
                    </a:p>
                  </a:txBody>
                  <a:tcPr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50.000 acessos simultâneos</a:t>
                      </a:r>
                    </a:p>
                  </a:txBody>
                  <a:tcPr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FE6DF"/>
                          </a:solidFill>
                        </a:defRPr>
                      </a:pPr>
                      <a:r>
                        <a:t>Milhões de req/s (&gt;100x margem)</a:t>
                      </a:r>
                    </a:p>
                  </a:txBody>
                  <a:tcPr>
                    <a:solidFill>
                      <a:srgbClr val="0B183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Throughput de Rede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~1,5 Gbps a 2,5 Gbps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FE6DF"/>
                          </a:solidFill>
                        </a:defRPr>
                      </a:pPr>
                      <a:r>
                        <a:t>Capacidade global &gt; 300 Tbps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Tempo de Resposta (TTFB)</a:t>
                      </a:r>
                    </a:p>
                  </a:txBody>
                  <a:tcPr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Cidadão no 4G / Fibra</a:t>
                      </a:r>
                    </a:p>
                  </a:txBody>
                  <a:tcPr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FE6DF"/>
                          </a:solidFill>
                        </a:defRPr>
                      </a:pPr>
                      <a:r>
                        <a:t>&lt; 35 ms (Entrega instantânea)</a:t>
                      </a:r>
                    </a:p>
                  </a:txBody>
                  <a:tcPr>
                    <a:solidFill>
                      <a:srgbClr val="0B183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Custo Operacional de Nuvem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Centenas de GBs no pico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FE6DF"/>
                          </a:solidFill>
                        </a:defRPr>
                      </a:pPr>
                      <a:r>
                        <a:t>R$ 0,00 (Zero surpresa financeira)</a:t>
                      </a:r>
                    </a:p>
                  </a:txBody>
                  <a:tcPr>
                    <a:solidFill>
                      <a:srgbClr val="12244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63840" y="1463040"/>
            <a:ext cx="3596335" cy="457200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230575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4114800"/>
            <a:ext cx="32305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C434"/>
                </a:solidFill>
              </a:defRPr>
            </a:pPr>
            <a:r>
              <a:t>SEGURANÇA MATEMÁTICA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</a:defRPr>
            </a:pPr>
            <a:r>
              <a:t>A capacidade da infraestrutura contratada supera em mais de 120.000 vezes a demanda bruta de toda a cidade de São José do Rio Preto reunida em um mesmo segundo.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FE6DF"/>
                </a:solidFill>
                <a:latin typeface="Arial"/>
              </a:defRPr>
            </a:pPr>
            <a:r>
              <a:t>CBI ILUMINAÇÃO • CONCESSÃO CRP LUZ — SMART RIO PRETO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Engenharia de Mídias e Otimização para Redes Móveis</a:t>
            </a:r>
          </a:p>
        </p:txBody>
      </p:sp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11480"/>
            <a:ext cx="1346326" cy="502920"/>
          </a:xfrm>
          <a:prstGeom prst="rect">
            <a:avLst/>
          </a:prstGeom>
        </p:spPr>
      </p:pic>
      <p:pic>
        <p:nvPicPr>
          <p:cNvPr id="6" name="Picture 5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47472"/>
            <a:ext cx="82072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6858000" cy="132588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6400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FE6DF"/>
                </a:solidFill>
              </a:defRPr>
            </a:pPr>
            <a:r>
              <a:t>Enxugamento Cirúrgico de Assets (-77%)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A pasta de mídias foi reduzida de 15,65 MB para 3,55 MB com expurgo de mídias órfãs e compressão inteligente, mantendo a nitidez visual cristalina em telas Retina e 4K.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6858000" cy="132588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6400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8A0F0"/>
                </a:solidFill>
              </a:defRPr>
            </a:pPr>
            <a:r>
              <a:t>Vídeo Hero com Streaming Parcial Inteligente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Configurado com preload='metadata' e HTTP 206 Range Requests. O vídeo não trava nem sobrecarrega o plano de dados móvel 3G/4G dos munícipes no trânsito.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6858000" cy="132588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6400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EC434"/>
                </a:solidFill>
              </a:defRPr>
            </a:pPr>
            <a:r>
              <a:t>Arquitetura Mobile-First &amp; Zero Layout Shift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100% responsivo para iPhone e Android. Testado via emulação real de navegador (Playwright), sem deslocamentos bruscos de tela (CLS &lt; 0.1).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463040"/>
            <a:ext cx="3596335" cy="457200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-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230575" cy="3108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6720" y="4846320"/>
            <a:ext cx="32305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Manutenção Técnica Noturna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Equipes operacionais da CRP Luz e veículos com cestos aéreos em operação contínua em São José do Rio Preto.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FE6DF"/>
                </a:solidFill>
                <a:latin typeface="Arial"/>
              </a:defRPr>
            </a:pPr>
            <a:r>
              <a:t>CBI ILUMINAÇÃO • CONCESSÃO CRP LUZ — SMART RIO PRETO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Segurança Cibernética de Borda e Proteção aos Munícipes</a:t>
            </a:r>
          </a:p>
        </p:txBody>
      </p:sp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11480"/>
            <a:ext cx="1346326" cy="502920"/>
          </a:xfrm>
          <a:prstGeom prst="rect">
            <a:avLst/>
          </a:prstGeom>
        </p:spPr>
      </p:pic>
      <p:pic>
        <p:nvPicPr>
          <p:cNvPr id="6" name="Picture 5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47472"/>
            <a:ext cx="82072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5175504" cy="214884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FE6DF"/>
                </a:solidFill>
              </a:defRPr>
            </a:pPr>
            <a:r>
              <a:t>Criptografia TLS 1.3 &amp; HSTS Estrito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Certificado SSL/TLS universal com renovação automatizada. Política HSTS forçada por 1 ano impedindo downgrade para conexões inseguras.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14884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64592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EC434"/>
                </a:solidFill>
              </a:defRPr>
            </a:pPr>
            <a:r>
              <a:t>Escudos Anti-DDoS e Bot Fight Mode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Bloqueio de ataques volumétricos e scrapers maliciosos na camada de borda (L3/L4/L7) antes que cheguem a consumir recursos do serviço.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175504" cy="214884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8A0F0"/>
                </a:solidFill>
              </a:defRPr>
            </a:pPr>
            <a:r>
              <a:t>Headers de Defesa em Profundidade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Arquivo _headers com CSP restritivo, X-Frame-Options: DENY (anti-clickjacking) e X-Content-Type-Options: nosniff contra injeção maliciosa.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886200"/>
            <a:ext cx="5175504" cy="214884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406908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t>Privacidade &amp; Conformidade com a LGPD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Aplicação puramente institucional e informativa. Zero armazenamento desnecessário de dados pessoais ou cookies invasivos de rastreamento.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FE6DF"/>
                </a:solidFill>
                <a:latin typeface="Arial"/>
              </a:defRPr>
            </a:pPr>
            <a:r>
              <a:t>CBI ILUMINAÇÃO • CONCESSÃO CRP LUZ — SMART RIO PRETO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Foco Total no Cidadão: Linha Direta Oficial 0800</a:t>
            </a:r>
          </a:p>
        </p:txBody>
      </p:sp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11480"/>
            <a:ext cx="1346326" cy="502920"/>
          </a:xfrm>
          <a:prstGeom prst="rect">
            <a:avLst/>
          </a:prstGeom>
        </p:spPr>
      </p:pic>
      <p:pic>
        <p:nvPicPr>
          <p:cNvPr id="6" name="Picture 5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47472"/>
            <a:ext cx="82072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6858000" cy="4572000"/>
          </a:xfrm>
          <a:prstGeom prst="roundRect">
            <a:avLst/>
          </a:prstGeom>
          <a:solidFill>
            <a:srgbClr val="122444"/>
          </a:solidFill>
          <a:ln w="12700">
            <a:solidFill>
              <a:srgbClr val="3C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FE6DF"/>
                </a:solidFill>
              </a:defRPr>
            </a:pPr>
            <a:r>
              <a:t>CENTRAL GRATUITA DE ATENDIMENTO AO MUNÍCIPE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0800 921 4477</a:t>
            </a:r>
          </a:p>
          <a:p>
            <a:pPr>
              <a:spcBef>
                <a:spcPts val="600"/>
              </a:spcBef>
              <a:defRPr sz="1300" b="1">
                <a:solidFill>
                  <a:srgbClr val="FEC434"/>
                </a:solidFill>
              </a:defRPr>
            </a:pPr>
            <a:r>
              <a:t>Ligação Gratuita para Telefones Fixos e Celulares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✔  Chamada com 1 toque integrada diretamente ao discador do celular dos cidadãos em todos os pontos da página.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✔  Canal ágil para relatar lâmpadas apagadas, oscilações, vandalismo e reparos no parque luminotécnico.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✔  Despacho direto para as viaturas e equipes técnicas que operam nas ruas de São José do Rio Preto.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✔  O canal de utilidade pública permanece disponível e em evidência mesmo em conexões lentas ou instáveis.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96335" cy="457200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230575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4663440"/>
            <a:ext cx="3230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Frota Operacional Ativa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Caminhões de apoio e suporte logístico atuando em bairros e avenidas da cidade com base nas chamadas do 0800.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FE6DF"/>
                </a:solidFill>
                <a:latin typeface="Arial"/>
              </a:defRPr>
            </a:pPr>
            <a:r>
              <a:t>CBI ILUMINAÇÃO • CONCESSÃO CRP LUZ — SMART RIO PRETO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Status de Prontidão e Homologação para Lançamento</a:t>
            </a:r>
          </a:p>
        </p:txBody>
      </p:sp>
      <p:pic>
        <p:nvPicPr>
          <p:cNvPr id="5" name="Picture 4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11480"/>
            <a:ext cx="1346326" cy="502920"/>
          </a:xfrm>
          <a:prstGeom prst="rect">
            <a:avLst/>
          </a:prstGeom>
        </p:spPr>
      </p:pic>
      <p:pic>
        <p:nvPicPr>
          <p:cNvPr id="6" name="Picture 5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47472"/>
            <a:ext cx="82072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6217920" cy="4572000"/>
          </a:xfrm>
          <a:prstGeom prst="roundRect">
            <a:avLst/>
          </a:prstGeom>
          <a:solidFill>
            <a:srgbClr val="0B1830"/>
          </a:solidFill>
          <a:ln w="1270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FE6DF"/>
                </a:solidFill>
              </a:defRPr>
            </a:pPr>
            <a:r>
              <a:t>INDICADORES CHAVE DE HOMOLOGAÇÃO</a:t>
            </a:r>
          </a:p>
          <a:p>
            <a:pPr>
              <a:spcBef>
                <a:spcPts val="1000"/>
              </a:spcBef>
              <a:defRPr sz="1000" b="1">
                <a:solidFill>
                  <a:srgbClr val="FFFFFF"/>
                </a:solidFill>
              </a:defRPr>
            </a:pPr>
            <a:r>
              <a:t>Disponibilidade Esperada: </a:t>
            </a:r>
            <a:r>
              <a:rPr b="0">
                <a:solidFill>
                  <a:srgbClr val="7FE6DF"/>
                </a:solidFill>
              </a:rPr>
              <a:t>99,99% (Muito superior ao SLA de 99%)</a:t>
            </a:r>
          </a:p>
          <a:p>
            <a:pPr>
              <a:spcBef>
                <a:spcPts val="1000"/>
              </a:spcBef>
              <a:defRPr sz="1000" b="1">
                <a:solidFill>
                  <a:srgbClr val="FFFFFF"/>
                </a:solidFill>
              </a:defRPr>
            </a:pPr>
            <a:r>
              <a:t>Capacidade de Absorção: </a:t>
            </a:r>
            <a:r>
              <a:rPr b="0">
                <a:solidFill>
                  <a:srgbClr val="7FE6DF"/>
                </a:solidFill>
              </a:rPr>
              <a:t>Suporte a picos massivos sem enfileiramento</a:t>
            </a:r>
          </a:p>
          <a:p>
            <a:pPr>
              <a:spcBef>
                <a:spcPts val="1000"/>
              </a:spcBef>
              <a:defRPr sz="1000" b="1">
                <a:solidFill>
                  <a:srgbClr val="FFFFFF"/>
                </a:solidFill>
              </a:defRPr>
            </a:pPr>
            <a:r>
              <a:t>Custo Operacional de Nuvem: </a:t>
            </a:r>
            <a:r>
              <a:rPr b="0">
                <a:solidFill>
                  <a:srgbClr val="7FE6DF"/>
                </a:solidFill>
              </a:rPr>
              <a:t>R$ 0,00 (Zero cobrança por requisição/banda)</a:t>
            </a:r>
          </a:p>
          <a:p>
            <a:pPr>
              <a:spcBef>
                <a:spcPts val="1000"/>
              </a:spcBef>
              <a:defRPr sz="1000" b="1">
                <a:solidFill>
                  <a:srgbClr val="FFFFFF"/>
                </a:solidFill>
              </a:defRPr>
            </a:pPr>
            <a:r>
              <a:t>Tempo de Reversão (Rollback): </a:t>
            </a:r>
            <a:r>
              <a:rPr b="0">
                <a:solidFill>
                  <a:srgbClr val="7FE6DF"/>
                </a:solidFill>
              </a:rPr>
              <a:t>&lt; 60 segundos com zero downtime</a:t>
            </a:r>
          </a:p>
          <a:p>
            <a:pPr>
              <a:spcBef>
                <a:spcPts val="1000"/>
              </a:spcBef>
              <a:defRPr sz="1000" b="1">
                <a:solidFill>
                  <a:srgbClr val="FFFFFF"/>
                </a:solidFill>
              </a:defRPr>
            </a:pPr>
            <a:r>
              <a:t>Testes de Automação (Playwright): </a:t>
            </a:r>
            <a:r>
              <a:rPr b="0">
                <a:solidFill>
                  <a:srgbClr val="7FE6DF"/>
                </a:solidFill>
              </a:rPr>
              <a:t>100% Aprovado (0 erros de console / layout)</a:t>
            </a:r>
          </a:p>
          <a:p>
            <a:pPr>
              <a:spcBef>
                <a:spcPts val="1000"/>
              </a:spcBef>
              <a:defRPr sz="1000" b="1">
                <a:solidFill>
                  <a:srgbClr val="FFFFFF"/>
                </a:solidFill>
              </a:defRPr>
            </a:pPr>
            <a:r>
              <a:t>Preservação Institucional: </a:t>
            </a:r>
            <a:r>
              <a:rPr b="0">
                <a:solidFill>
                  <a:srgbClr val="7FE6DF"/>
                </a:solidFill>
              </a:rPr>
              <a:t>100% dos textos oficiais do Smart Rio Preto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463040"/>
            <a:ext cx="4236415" cy="4572000"/>
          </a:xfrm>
          <a:prstGeom prst="roundRect">
            <a:avLst/>
          </a:prstGeom>
          <a:solidFill>
            <a:srgbClr val="122444"/>
          </a:solidFill>
          <a:ln w="12700">
            <a:solidFill>
              <a:srgbClr val="3C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EC434"/>
                </a:solidFill>
              </a:defRPr>
            </a:pPr>
            <a:r>
              <a:t>PRÓXIMOS PASSOS (CHECKLIST FINAL)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✔ 1. Conexão Cloudflare Pages: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Vincular repositório GitHub ao projeto (3 min).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✔ 2. Apontamento de Domínio: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Ativar Proxy Laranja no Registro.br (15 min).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✔ 3. Ativação de SSL Full Strict: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Criptografia de ponta a ponta obrigatória.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✔ 4. Teste de Linha 0800: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Simulação de chamada real pela equipe.</a:t>
            </a:r>
          </a:p>
        </p:txBody>
      </p:sp>
      <p:pic>
        <p:nvPicPr>
          <p:cNvPr id="11" name="Picture 10" descr="LOGO CBI_001-23_6 B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120640"/>
            <a:ext cx="879343" cy="685800"/>
          </a:xfrm>
          <a:prstGeom prst="rect">
            <a:avLst/>
          </a:prstGeom>
        </p:spPr>
      </p:pic>
      <p:pic>
        <p:nvPicPr>
          <p:cNvPr id="12" name="Picture 11" descr="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257800"/>
            <a:ext cx="134632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6291072"/>
            <a:ext cx="10728655" cy="12700"/>
          </a:xfrm>
          <a:prstGeom prst="rect">
            <a:avLst/>
          </a:prstGeom>
          <a:solidFill>
            <a:srgbClr val="23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CBI — Companhia Brasileira de Iluminação | Concessão CRP Luz — São José do Rio Preto • Confidencial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7FE6DF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